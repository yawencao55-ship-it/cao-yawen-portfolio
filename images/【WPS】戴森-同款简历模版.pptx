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344" r:id="rId3"/>
    <p:sldId id="345" r:id="rId5"/>
  </p:sldIdLst>
  <p:sldSz cx="6858000" cy="99028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A78F"/>
    <a:srgbClr val="F1ECE7"/>
    <a:srgbClr val="0E63A0"/>
    <a:srgbClr val="252525"/>
    <a:srgbClr val="657381"/>
    <a:srgbClr val="576370"/>
    <a:srgbClr val="7C8C9C"/>
    <a:srgbClr val="8B9CAE"/>
    <a:srgbClr val="8D9FB1"/>
    <a:srgbClr val="DBD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 autoAdjust="0"/>
    <p:restoredTop sz="94660"/>
  </p:normalViewPr>
  <p:slideViewPr>
    <p:cSldViewPr showGuides="1">
      <p:cViewPr>
        <p:scale>
          <a:sx n="199" d="100"/>
          <a:sy n="199" d="100"/>
        </p:scale>
        <p:origin x="3368" y="144"/>
      </p:cViewPr>
      <p:guideLst>
        <p:guide orient="horz" pos="3118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76" y="1143000"/>
            <a:ext cx="213704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hemeOverride" Target="../theme/themeOverride1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0" y="0"/>
            <a:ext cx="6858000" cy="2405851"/>
          </a:xfrm>
          <a:prstGeom prst="rect">
            <a:avLst/>
          </a:prstGeom>
          <a:solidFill>
            <a:srgbClr val="F1EC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93001" y="487412"/>
            <a:ext cx="1353820" cy="754088"/>
            <a:chOff x="2868815" y="271412"/>
            <a:chExt cx="1353820" cy="754088"/>
          </a:xfrm>
        </p:grpSpPr>
        <p:sp>
          <p:nvSpPr>
            <p:cNvPr id="4" name="文本框 3"/>
            <p:cNvSpPr txBox="1"/>
            <p:nvPr/>
          </p:nvSpPr>
          <p:spPr>
            <a:xfrm>
              <a:off x="2872943" y="271412"/>
              <a:ext cx="1221105" cy="49212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zh-CN" altLang="en-GB" sz="3200" b="1" dirty="0">
                  <a:latin typeface="Times New Roman" panose="02020603050405020304" pitchFamily="18" charset="0"/>
                  <a:ea typeface="思源黑体 Medium" panose="020B0600000000000000" charset="-122"/>
                  <a:cs typeface="Times New Roman" panose="02020603050405020304" pitchFamily="18" charset="0"/>
                </a:rPr>
                <a:t>曹亚雯</a:t>
              </a:r>
              <a:endParaRPr lang="zh-CN" altLang="en-GB" sz="3200" b="1" dirty="0">
                <a:latin typeface="Times New Roman" panose="02020603050405020304" pitchFamily="18" charset="0"/>
                <a:ea typeface="思源黑体 Medium" panose="020B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868815" y="841350"/>
              <a:ext cx="1353820" cy="1841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zh-CN" altLang="en-US" sz="1200" b="1" dirty="0">
                  <a:latin typeface="思源黑体 Light" panose="020B0300000000000000" pitchFamily="34" charset="-128"/>
                  <a:ea typeface="思源黑体 Light" panose="020B0300000000000000" pitchFamily="34" charset="-128"/>
                  <a:cs typeface="Didot Bold" panose="02000503000000020003" charset="0"/>
                </a:rPr>
                <a:t>商品企划</a:t>
              </a:r>
              <a:r>
                <a:rPr lang="en-US" altLang="zh-CN" sz="1200" b="1" dirty="0">
                  <a:latin typeface="思源黑体 Light" panose="020B0300000000000000" pitchFamily="34" charset="-128"/>
                  <a:ea typeface="思源黑体 Light" panose="020B0300000000000000" pitchFamily="34" charset="-128"/>
                  <a:cs typeface="Didot Bold" panose="02000503000000020003" charset="0"/>
                </a:rPr>
                <a:t> / </a:t>
              </a:r>
              <a:r>
                <a:rPr lang="zh-CN" altLang="en-US" sz="1200" b="1" dirty="0">
                  <a:latin typeface="思源黑体 Light" panose="020B0300000000000000" pitchFamily="34" charset="-128"/>
                  <a:ea typeface="思源黑体 Light" panose="020B0300000000000000" pitchFamily="34" charset="-128"/>
                  <a:cs typeface="Didot Bold" panose="02000503000000020003" charset="0"/>
                </a:rPr>
                <a:t>商品运营</a:t>
              </a:r>
              <a:endParaRPr lang="zh-CN" altLang="en-US" sz="1200" b="1" dirty="0">
                <a:latin typeface="思源黑体 Light" panose="020B0300000000000000" pitchFamily="34" charset="-128"/>
                <a:ea typeface="思源黑体 Light" panose="020B0300000000000000" pitchFamily="34" charset="-128"/>
                <a:cs typeface="Didot Bold" panose="02000503000000020003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205345" y="2789555"/>
            <a:ext cx="4077970" cy="302260"/>
            <a:chOff x="2565000" y="2273415"/>
            <a:chExt cx="3888000" cy="301997"/>
          </a:xfrm>
        </p:grpSpPr>
        <p:sp>
          <p:nvSpPr>
            <p:cNvPr id="12" name="文本框 11"/>
            <p:cNvSpPr txBox="1"/>
            <p:nvPr/>
          </p:nvSpPr>
          <p:spPr>
            <a:xfrm>
              <a:off x="2565000" y="2273415"/>
              <a:ext cx="711200" cy="2150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buClrTx/>
                <a:buSzTx/>
                <a:buFontTx/>
                <a:defRPr sz="1400" i="0" cap="all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实习经历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2565000" y="2575412"/>
              <a:ext cx="3888000" cy="0"/>
              <a:chOff x="2565000" y="2575412"/>
              <a:chExt cx="3888000" cy="0"/>
            </a:xfrm>
          </p:grpSpPr>
          <p:cxnSp>
            <p:nvCxnSpPr>
              <p:cNvPr id="13" name="直接连接符 29"/>
              <p:cNvCxnSpPr/>
              <p:nvPr/>
            </p:nvCxnSpPr>
            <p:spPr>
              <a:xfrm>
                <a:off x="2565000" y="2575412"/>
                <a:ext cx="388800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29"/>
              <p:cNvCxnSpPr/>
              <p:nvPr/>
            </p:nvCxnSpPr>
            <p:spPr>
              <a:xfrm>
                <a:off x="2565000" y="2575412"/>
                <a:ext cx="720000" cy="0"/>
              </a:xfrm>
              <a:prstGeom prst="line">
                <a:avLst/>
              </a:prstGeom>
              <a:ln w="31750">
                <a:solidFill>
                  <a:srgbClr val="B1A78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组合 15"/>
          <p:cNvGrpSpPr/>
          <p:nvPr/>
        </p:nvGrpSpPr>
        <p:grpSpPr>
          <a:xfrm>
            <a:off x="2205345" y="3223260"/>
            <a:ext cx="4175760" cy="2159000"/>
            <a:chOff x="2785668" y="4619330"/>
            <a:chExt cx="4175760" cy="2159708"/>
          </a:xfrm>
        </p:grpSpPr>
        <p:sp>
          <p:nvSpPr>
            <p:cNvPr id="17" name="文本框 16"/>
            <p:cNvSpPr txBox="1"/>
            <p:nvPr/>
          </p:nvSpPr>
          <p:spPr>
            <a:xfrm>
              <a:off x="2974898" y="4619330"/>
              <a:ext cx="3580915" cy="23058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百丽时尚集团</a:t>
              </a:r>
              <a:r>
                <a:rPr lang="en-US" altLang="zh-CN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 | </a:t>
              </a: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商品企划实习生</a:t>
              </a:r>
              <a:r>
                <a:rPr lang="en-US" altLang="zh-CN" sz="9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·</a:t>
              </a:r>
              <a:r>
                <a:rPr lang="en-US" altLang="zh-CN" sz="1000" i="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2025.10-2026.1</a:t>
              </a:r>
              <a:endParaRPr lang="en-US" altLang="zh-CN" sz="1000" i="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785668" y="4898822"/>
              <a:ext cx="4175760" cy="1880216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库存数据管理</a:t>
              </a:r>
              <a:endParaRPr lang="zh-CN" altLang="en-US" sz="900" b="1" i="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系统录入与维护商品库存数据，协助进行库存调拨与优化，为库存决策提供准确依据。</a:t>
              </a:r>
              <a:endParaRPr lang="zh-CN" altLang="en-US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直播业务支持</a:t>
              </a:r>
              <a:endParaRPr lang="zh-CN" altLang="en-US" sz="900" b="1" i="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统筹直播间样衣的全流程管理，保障每日直播活动的顺利开展。</a:t>
              </a:r>
              <a:endParaRPr lang="zh-CN" altLang="en-US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市场信息分析</a:t>
              </a:r>
              <a:endParaRPr lang="zh-CN" altLang="en-US" sz="900" b="1" i="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定期采集并整理竞品的销售数据、定价及促销策略，输出分析报告，支持商品企划决策。</a:t>
              </a:r>
              <a:endParaRPr lang="zh-CN" altLang="en-US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主要成果</a:t>
              </a:r>
              <a:endParaRPr lang="zh-CN" altLang="en-US" sz="900" b="1" i="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双十一期间超额提前完成阶段性销售额目标。</a:t>
              </a:r>
              <a:endParaRPr lang="zh-CN" altLang="en-US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05345" y="5574030"/>
            <a:ext cx="4238625" cy="2615565"/>
            <a:chOff x="2762173" y="4685399"/>
            <a:chExt cx="4238625" cy="2617690"/>
          </a:xfrm>
        </p:grpSpPr>
        <p:sp>
          <p:nvSpPr>
            <p:cNvPr id="20" name="文本框 19"/>
            <p:cNvSpPr txBox="1"/>
            <p:nvPr/>
          </p:nvSpPr>
          <p:spPr>
            <a:xfrm>
              <a:off x="2951403" y="4685399"/>
              <a:ext cx="4049395" cy="230656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美腕（上海）网络科技有限公司</a:t>
              </a:r>
              <a:r>
                <a:rPr lang="en-US" altLang="zh-CN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 | </a:t>
              </a: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直播运营实习生</a:t>
              </a:r>
              <a:r>
                <a:rPr lang="en-US" altLang="zh-CN" sz="10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·</a:t>
              </a:r>
              <a:r>
                <a:rPr lang="en-US" altLang="zh-CN" sz="1000" i="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2024.05-2024.08</a:t>
              </a:r>
              <a:endParaRPr lang="en-US" altLang="zh-CN" sz="1000" i="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762173" y="4979375"/>
              <a:ext cx="4100830" cy="2323714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直播执行与视觉呈现</a:t>
              </a:r>
              <a:endParaRPr lang="zh-CN" altLang="en-US" sz="900" b="1" i="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负责直播服装搭配与整体视觉效果把控，参与样衣管理及直播动线设计，保障直播高效。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数据监控与分析</a:t>
              </a:r>
              <a:endParaRPr lang="zh-CN" altLang="en-US" sz="900" b="1" i="0" dirty="0"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实时跟踪并分析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GMV / GPM / UV / 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转化率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等核心指标，基于数据反馈持续优化搭配方案。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转化提升成果</a:t>
              </a:r>
              <a:endParaRPr lang="zh-CN" altLang="en-US" sz="900" b="1" i="0" dirty="0"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通过搭配逻辑与直播流程优化，助力直播间场均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GMV 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提升约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15%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，转化率提升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0.5 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个百分点。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数据驱动优化</a:t>
              </a:r>
              <a:endParaRPr lang="zh-CN" altLang="en-US" sz="900" b="1" i="0" dirty="0"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2720" lvl="0" indent="0" algn="just" defTabSz="914400" fontAlgn="auto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None/>
                <a:tabLst>
                  <a:tab pos="3760470" algn="l"/>
                </a:tabLst>
              </a:pP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以数据为依据调整搭配策略，推动直播间转化率由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1.5% 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稳定提升至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2%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，有效拉升整体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GPM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。</a:t>
              </a:r>
              <a:endParaRPr lang="zh-CN" altLang="en-US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2509520" y="1463675"/>
            <a:ext cx="1013460" cy="216000"/>
            <a:chOff x="2437130" y="51435"/>
            <a:chExt cx="1013460" cy="216355"/>
          </a:xfrm>
        </p:grpSpPr>
        <p:sp>
          <p:nvSpPr>
            <p:cNvPr id="40" name="文本框 39"/>
            <p:cNvSpPr txBox="1"/>
            <p:nvPr/>
          </p:nvSpPr>
          <p:spPr>
            <a:xfrm>
              <a:off x="2708910" y="83185"/>
              <a:ext cx="741680" cy="134620"/>
            </a:xfrm>
            <a:prstGeom prst="rect">
              <a:avLst/>
            </a:prstGeom>
          </p:spPr>
          <p:txBody>
            <a:bodyPr wrap="none" lIns="0" tIns="0" rIns="0" bIns="0">
              <a:noAutofit/>
            </a:bodyPr>
            <a:lstStyle/>
            <a:p>
              <a:pPr marL="0" indent="0" algn="l">
                <a:lnSpc>
                  <a:spcPct val="100000"/>
                </a:lnSpc>
              </a:pPr>
              <a:r>
                <a:rPr lang="en-US" altLang="zh-CN" sz="12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ource Han Sans SC Regular" panose="020B0600000000000000" charset="-122"/>
                  <a:cs typeface="Times New Roman" panose="02020603050405020304" pitchFamily="18" charset="0"/>
                </a:rPr>
                <a:t>173 0575 5168</a:t>
              </a:r>
              <a:endPara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ource Han Sans SC Regular" panose="020B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437130" y="51435"/>
              <a:ext cx="216000" cy="216355"/>
            </a:xfrm>
            <a:prstGeom prst="rect">
              <a:avLst/>
            </a:prstGeom>
            <a:blipFill rotWithShape="1">
              <a:blip r:embed="rId1"/>
              <a:stretch>
                <a:fillRect/>
              </a:stretch>
            </a:blip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rot="0">
            <a:off x="4220845" y="1463675"/>
            <a:ext cx="1494448" cy="216000"/>
            <a:chOff x="1948180" y="1932305"/>
            <a:chExt cx="1494807" cy="216355"/>
          </a:xfrm>
        </p:grpSpPr>
        <p:sp>
          <p:nvSpPr>
            <p:cNvPr id="45" name="文本框 44"/>
            <p:cNvSpPr txBox="1"/>
            <p:nvPr/>
          </p:nvSpPr>
          <p:spPr>
            <a:xfrm>
              <a:off x="2219683" y="1964055"/>
              <a:ext cx="1223304" cy="18445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indent="0" algn="l">
                <a:lnSpc>
                  <a:spcPct val="100000"/>
                </a:lnSpc>
              </a:pPr>
              <a:r>
                <a:rPr lang="en-US" altLang="zh-CN" sz="12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ource Han Sans SC Regular" panose="020B0600000000000000" charset="-122"/>
                  <a:cs typeface="Times New Roman" panose="02020603050405020304" pitchFamily="18" charset="0"/>
                </a:rPr>
                <a:t>sgqt0811@163.com</a:t>
              </a:r>
              <a:endPara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ource Han Sans SC Regular" panose="020B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948180" y="1932305"/>
              <a:ext cx="216052" cy="21635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 rot="0">
            <a:off x="2509520" y="1855470"/>
            <a:ext cx="1129383" cy="216000"/>
            <a:chOff x="2437174" y="435136"/>
            <a:chExt cx="1129407" cy="216355"/>
          </a:xfrm>
        </p:grpSpPr>
        <p:sp>
          <p:nvSpPr>
            <p:cNvPr id="49" name="文本框 48"/>
            <p:cNvSpPr txBox="1"/>
            <p:nvPr/>
          </p:nvSpPr>
          <p:spPr>
            <a:xfrm>
              <a:off x="2708677" y="466886"/>
              <a:ext cx="857904" cy="18445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algn="l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12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ource Han Sans SC Regular" panose="020B0600000000000000" charset="-122"/>
                  <a:cs typeface="Times New Roman" panose="02020603050405020304" pitchFamily="18" charset="0"/>
                </a:rPr>
                <a:t>sgqtqybk0811</a:t>
              </a:r>
              <a:endPara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ource Han Sans SC Regular" panose="020B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2437174" y="435136"/>
              <a:ext cx="216005" cy="216355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 rot="0">
            <a:off x="4220845" y="1845945"/>
            <a:ext cx="576218" cy="216000"/>
            <a:chOff x="1948180" y="2273935"/>
            <a:chExt cx="576399" cy="216355"/>
          </a:xfrm>
        </p:grpSpPr>
        <p:sp>
          <p:nvSpPr>
            <p:cNvPr id="63" name="文本框 62"/>
            <p:cNvSpPr txBox="1"/>
            <p:nvPr/>
          </p:nvSpPr>
          <p:spPr>
            <a:xfrm>
              <a:off x="2219683" y="2305685"/>
              <a:ext cx="304896" cy="18445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2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Didot Bold" panose="02000503000000020003" charset="0"/>
                </a:rPr>
                <a:t>上海</a:t>
              </a:r>
              <a:endPara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Didot Bold" panose="02000503000000020003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1948180" y="2273935"/>
              <a:ext cx="216068" cy="216355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477000" y="462922"/>
            <a:ext cx="1460023" cy="194669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412115" y="6338570"/>
            <a:ext cx="1430020" cy="3319780"/>
            <a:chOff x="742" y="9078"/>
            <a:chExt cx="2252" cy="5228"/>
          </a:xfrm>
        </p:grpSpPr>
        <p:cxnSp>
          <p:nvCxnSpPr>
            <p:cNvPr id="6" name="直接连接符 29"/>
            <p:cNvCxnSpPr/>
            <p:nvPr/>
          </p:nvCxnSpPr>
          <p:spPr>
            <a:xfrm>
              <a:off x="769" y="12173"/>
              <a:ext cx="222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6" name="组合 55"/>
            <p:cNvGrpSpPr/>
            <p:nvPr/>
          </p:nvGrpSpPr>
          <p:grpSpPr>
            <a:xfrm>
              <a:off x="742" y="9078"/>
              <a:ext cx="2252" cy="5228"/>
              <a:chOff x="742" y="9078"/>
              <a:chExt cx="2252" cy="5228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42" y="9078"/>
                <a:ext cx="2252" cy="5229"/>
                <a:chOff x="470864" y="5248584"/>
                <a:chExt cx="1430025" cy="3320698"/>
              </a:xfrm>
            </p:grpSpPr>
            <p:sp>
              <p:nvSpPr>
                <p:cNvPr id="67" name="文本框 66"/>
                <p:cNvSpPr txBox="1"/>
                <p:nvPr/>
              </p:nvSpPr>
              <p:spPr>
                <a:xfrm>
                  <a:off x="477673" y="5248584"/>
                  <a:ext cx="711200" cy="215265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zh-CN"/>
                  </a:defPPr>
                  <a:lvl1pPr>
                    <a:buClrTx/>
                    <a:buSzTx/>
                    <a:buFontTx/>
                    <a:defRPr sz="1400" i="0" cap="all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uFillTx/>
                      <a:latin typeface="思源黑体 Medium" panose="020B0600000000000000" charset="-122"/>
                      <a:ea typeface="思源黑体 Medium" panose="020B0600000000000000" charset="-122"/>
                      <a:cs typeface="思源黑体 Medium" panose="020B0600000000000000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教育经历</a:t>
                  </a:r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90" name="组合 89"/>
                <p:cNvGrpSpPr/>
                <p:nvPr/>
              </p:nvGrpSpPr>
              <p:grpSpPr>
                <a:xfrm>
                  <a:off x="470864" y="5597361"/>
                  <a:ext cx="1423675" cy="1517680"/>
                  <a:chOff x="558975" y="5587662"/>
                  <a:chExt cx="1423675" cy="1517680"/>
                </a:xfrm>
              </p:grpSpPr>
              <p:sp>
                <p:nvSpPr>
                  <p:cNvPr id="86" name="文本框 85"/>
                  <p:cNvSpPr txBox="1"/>
                  <p:nvPr/>
                </p:nvSpPr>
                <p:spPr>
                  <a:xfrm>
                    <a:off x="558975" y="6441767"/>
                    <a:ext cx="1423503" cy="663575"/>
                  </a:xfrm>
                  <a:prstGeom prst="rect">
                    <a:avLst/>
                  </a:prstGeom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lvl="0" algn="just">
                      <a:lnSpc>
                        <a:spcPct val="180000"/>
                      </a:lnSpc>
                      <a:buClrTx/>
                      <a:buSzTx/>
                      <a:tabLst>
                        <a:tab pos="3760470" algn="l"/>
                      </a:tabLst>
                    </a:pPr>
                    <a:r>
                      <a:rPr lang="zh-CN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研究生课题《孕妇托腹带设计优化及其对孕期腹部支撑效果的研究》</a:t>
                    </a:r>
                    <a:endParaRPr lang="zh-CN" altLang="en-US" sz="8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Light" panose="020B0300000000000000" charset="-122"/>
                      <a:ea typeface="思源黑体 Light" panose="020B0300000000000000" charset="-122"/>
                    </a:endParaRPr>
                  </a:p>
                </p:txBody>
              </p:sp>
              <p:sp>
                <p:nvSpPr>
                  <p:cNvPr id="87" name="文本框 86"/>
                  <p:cNvSpPr txBox="1"/>
                  <p:nvPr/>
                </p:nvSpPr>
                <p:spPr>
                  <a:xfrm>
                    <a:off x="559147" y="5587662"/>
                    <a:ext cx="1423503" cy="854075"/>
                  </a:xfrm>
                  <a:prstGeom prst="rect">
                    <a:avLst/>
                  </a:prstGeom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zh-CN" altLang="en-US" sz="1000" b="1" i="0" dirty="0">
                        <a:solidFill>
                          <a:srgbClr val="B1A78F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硕士阶段：</a:t>
                    </a:r>
                    <a:endParaRPr lang="en-US" altLang="zh-CN" sz="100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zh-CN" altLang="en-US" sz="900" b="1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上海工程技术大学</a:t>
                    </a:r>
                    <a:endParaRPr lang="en-US" altLang="zh-CN" sz="900" b="1" i="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zh-CN" sz="90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  <a:sym typeface="+mn-ea"/>
                      </a:rPr>
                      <a:t>纺织科学与工程</a:t>
                    </a:r>
                    <a:endParaRPr lang="zh-CN" sz="90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  <a:sym typeface="+mn-ea"/>
                    </a:endParaRPr>
                  </a:p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en-US" altLang="zh-CN" sz="900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2023.09 - 2026.06</a:t>
                    </a:r>
                    <a:r>
                      <a:rPr lang="zh-CN" altLang="en-US" sz="900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（预计）</a:t>
                    </a:r>
                    <a:endParaRPr lang="zh-CN" altLang="en-US" sz="900" i="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</p:txBody>
              </p:sp>
            </p:grpSp>
            <p:grpSp>
              <p:nvGrpSpPr>
                <p:cNvPr id="8" name="组合 7"/>
                <p:cNvGrpSpPr/>
                <p:nvPr/>
              </p:nvGrpSpPr>
              <p:grpSpPr>
                <a:xfrm>
                  <a:off x="472134" y="7257755"/>
                  <a:ext cx="1428755" cy="1311527"/>
                  <a:chOff x="560245" y="4806781"/>
                  <a:chExt cx="1428755" cy="1311527"/>
                </a:xfrm>
              </p:grpSpPr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560245" y="5676348"/>
                    <a:ext cx="1423503" cy="441960"/>
                  </a:xfrm>
                  <a:prstGeom prst="rect">
                    <a:avLst/>
                  </a:prstGeom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lvl="0" algn="just">
                      <a:lnSpc>
                        <a:spcPct val="180000"/>
                      </a:lnSpc>
                      <a:buClrTx/>
                      <a:buSzTx/>
                      <a:tabLst>
                        <a:tab pos="3760470" algn="l"/>
                      </a:tabLst>
                    </a:pPr>
                    <a:r>
                      <a:rPr lang="en-GB" altLang="zh-CN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GPA 3.</a:t>
                    </a:r>
                    <a:r>
                      <a:rPr lang="en-US" altLang="en-GB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72</a:t>
                    </a:r>
                    <a:r>
                      <a:rPr lang="en-GB" altLang="zh-CN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/4.0</a:t>
                    </a:r>
                    <a:endParaRPr lang="en-GB" altLang="zh-CN" sz="8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Light" panose="020B0300000000000000" charset="-122"/>
                      <a:ea typeface="思源黑体 Light" panose="020B0300000000000000" charset="-122"/>
                    </a:endParaRPr>
                  </a:p>
                  <a:p>
                    <a:pPr lvl="0" algn="just">
                      <a:lnSpc>
                        <a:spcPct val="180000"/>
                      </a:lnSpc>
                      <a:buClrTx/>
                      <a:buSzTx/>
                      <a:tabLst>
                        <a:tab pos="3760470" algn="l"/>
                      </a:tabLst>
                    </a:pPr>
                    <a:r>
                      <a:rPr lang="en-US" altLang="zh-CN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2020</a:t>
                    </a:r>
                    <a:r>
                      <a:rPr lang="zh-CN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年和</a:t>
                    </a:r>
                    <a:r>
                      <a:rPr lang="en-US" altLang="zh-CN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2022</a:t>
                    </a:r>
                    <a:r>
                      <a:rPr lang="zh-CN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Light" panose="020B0300000000000000" charset="-122"/>
                        <a:ea typeface="思源黑体 Light" panose="020B0300000000000000" charset="-122"/>
                      </a:rPr>
                      <a:t>年三等奖学金</a:t>
                    </a:r>
                    <a:endParaRPr lang="zh-CN" altLang="en-US" sz="8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Light" panose="020B0300000000000000" charset="-122"/>
                      <a:ea typeface="思源黑体 Light" panose="020B0300000000000000" charset="-122"/>
                    </a:endParaRPr>
                  </a:p>
                </p:txBody>
              </p:sp>
              <p:sp>
                <p:nvSpPr>
                  <p:cNvPr id="15" name="文本框 14"/>
                  <p:cNvSpPr txBox="1"/>
                  <p:nvPr/>
                </p:nvSpPr>
                <p:spPr>
                  <a:xfrm>
                    <a:off x="565497" y="4806781"/>
                    <a:ext cx="1423503" cy="854075"/>
                  </a:xfrm>
                  <a:prstGeom prst="rect">
                    <a:avLst/>
                  </a:prstGeom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marL="0" lvl="0" algn="l">
                      <a:lnSpc>
                        <a:spcPct val="150000"/>
                      </a:lnSpc>
                      <a:buClrTx/>
                      <a:buSzTx/>
                      <a:buFontTx/>
                    </a:pPr>
                    <a:r>
                      <a:rPr lang="zh-CN" altLang="en-US" sz="1000" b="1" i="0" dirty="0">
                        <a:solidFill>
                          <a:srgbClr val="B1A78F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本科阶段：</a:t>
                    </a:r>
                    <a:endParaRPr lang="zh-CN" altLang="en-US" sz="1000" b="1" i="0" dirty="0">
                      <a:solidFill>
                        <a:srgbClr val="B1A78F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  <a:p>
                    <a:pPr marL="0" lvl="0" algn="l">
                      <a:lnSpc>
                        <a:spcPct val="150000"/>
                      </a:lnSpc>
                      <a:buClrTx/>
                      <a:buSzTx/>
                      <a:buFontTx/>
                    </a:pPr>
                    <a:r>
                      <a:rPr lang="zh-CN" altLang="en-US" sz="900" b="1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温州大学</a:t>
                    </a:r>
                    <a:endParaRPr lang="zh-CN" altLang="en-US" sz="900" b="1" i="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zh-CN" altLang="en-US" sz="900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服装设计与工程</a:t>
                    </a:r>
                    <a:endParaRPr lang="en-US" altLang="zh-CN" sz="900" i="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  <a:p>
                    <a:pPr marL="0" lvl="0" indent="0" algn="l">
                      <a:lnSpc>
                        <a:spcPct val="150000"/>
                      </a:lnSpc>
                    </a:pPr>
                    <a:r>
                      <a:rPr lang="en-US" altLang="zh-CN" sz="900" i="0" dirty="0">
                        <a:solidFill>
                          <a:schemeClr val="tx1"/>
                        </a:solidFill>
                        <a:latin typeface="Source Han Sans SC Regular" panose="020B0600000000000000" charset="-122"/>
                        <a:ea typeface="Source Han Sans SC Regular" panose="020B0600000000000000" charset="-122"/>
                        <a:cs typeface="Source Han Sans SC Regular" panose="020B0600000000000000" charset="-122"/>
                      </a:rPr>
                      <a:t>2019.09 - 2023.06 </a:t>
                    </a:r>
                    <a:endParaRPr lang="en-US" altLang="zh-CN" sz="900" i="0" dirty="0">
                      <a:solidFill>
                        <a:schemeClr val="tx1"/>
                      </a:solidFill>
                      <a:latin typeface="Source Han Sans SC Regular" panose="020B0600000000000000" charset="-122"/>
                      <a:ea typeface="Source Han Sans SC Regular" panose="020B0600000000000000" charset="-122"/>
                      <a:cs typeface="Source Han Sans SC Regular" panose="020B0600000000000000" charset="-122"/>
                    </a:endParaRPr>
                  </a:p>
                </p:txBody>
              </p:sp>
            </p:grpSp>
          </p:grpSp>
          <p:cxnSp>
            <p:nvCxnSpPr>
              <p:cNvPr id="9" name="直接连接符 29"/>
              <p:cNvCxnSpPr/>
              <p:nvPr/>
            </p:nvCxnSpPr>
            <p:spPr>
              <a:xfrm>
                <a:off x="752" y="9498"/>
                <a:ext cx="2225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29"/>
              <p:cNvCxnSpPr/>
              <p:nvPr/>
            </p:nvCxnSpPr>
            <p:spPr>
              <a:xfrm>
                <a:off x="752" y="9498"/>
                <a:ext cx="1134" cy="0"/>
              </a:xfrm>
              <a:prstGeom prst="line">
                <a:avLst/>
              </a:prstGeom>
              <a:ln w="31750">
                <a:solidFill>
                  <a:srgbClr val="B1A78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组合 60"/>
          <p:cNvGrpSpPr/>
          <p:nvPr/>
        </p:nvGrpSpPr>
        <p:grpSpPr>
          <a:xfrm>
            <a:off x="412115" y="2791460"/>
            <a:ext cx="1412875" cy="3400425"/>
            <a:chOff x="649" y="4396"/>
            <a:chExt cx="2225" cy="5355"/>
          </a:xfrm>
        </p:grpSpPr>
        <p:grpSp>
          <p:nvGrpSpPr>
            <p:cNvPr id="33" name="组合 32"/>
            <p:cNvGrpSpPr/>
            <p:nvPr/>
          </p:nvGrpSpPr>
          <p:grpSpPr>
            <a:xfrm rot="0">
              <a:off x="649" y="4396"/>
              <a:ext cx="2225" cy="473"/>
              <a:chOff x="2565000" y="2275269"/>
              <a:chExt cx="1413056" cy="300143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565635" y="2275269"/>
                <a:ext cx="711291" cy="215113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>
                  <a:buClrTx/>
                  <a:buSzTx/>
                  <a:buFontTx/>
                  <a:defRPr sz="1400" i="0" cap="all"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思源黑体 Medium" panose="020B0600000000000000" charset="-122"/>
                    <a:ea typeface="思源黑体 Medium" panose="020B0600000000000000" charset="-122"/>
                    <a:cs typeface="思源黑体 Medium" panose="020B0600000000000000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核心技能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35" name="组合 34"/>
              <p:cNvGrpSpPr/>
              <p:nvPr/>
            </p:nvGrpSpPr>
            <p:grpSpPr>
              <a:xfrm>
                <a:off x="2565000" y="2575412"/>
                <a:ext cx="1413056" cy="0"/>
                <a:chOff x="2565000" y="2575412"/>
                <a:chExt cx="1413056" cy="0"/>
              </a:xfrm>
            </p:grpSpPr>
            <p:cxnSp>
              <p:nvCxnSpPr>
                <p:cNvPr id="36" name="直接连接符 29"/>
                <p:cNvCxnSpPr/>
                <p:nvPr/>
              </p:nvCxnSpPr>
              <p:spPr>
                <a:xfrm>
                  <a:off x="2565000" y="2575412"/>
                  <a:ext cx="1413056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29"/>
                <p:cNvCxnSpPr/>
                <p:nvPr/>
              </p:nvCxnSpPr>
              <p:spPr>
                <a:xfrm>
                  <a:off x="2565000" y="2575412"/>
                  <a:ext cx="720000" cy="0"/>
                </a:xfrm>
                <a:prstGeom prst="line">
                  <a:avLst/>
                </a:prstGeom>
                <a:ln w="31750">
                  <a:solidFill>
                    <a:srgbClr val="B1A78F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7" name="文本框 46"/>
            <p:cNvSpPr txBox="1"/>
            <p:nvPr/>
          </p:nvSpPr>
          <p:spPr>
            <a:xfrm>
              <a:off x="649" y="8562"/>
              <a:ext cx="203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英语</a:t>
              </a:r>
              <a:endParaRPr lang="zh-CN" sz="1000" b="1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四级497，六级503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49" y="9171"/>
              <a:ext cx="203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计算机</a:t>
              </a:r>
              <a:endParaRPr lang="zh-CN" sz="1000" b="1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  <a:sym typeface="+mn-ea"/>
                </a:rPr>
                <a:t>C</a:t>
              </a:r>
              <a:r>
                <a:rPr lang="zh-CN" altLang="en-US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  <a:sym typeface="+mn-ea"/>
                </a:rPr>
                <a:t>语言</a:t>
              </a:r>
              <a:r>
                <a:rPr lang="zh-CN" altLang="en-US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二级</a:t>
              </a:r>
              <a:endParaRPr lang="zh-CN" altLang="en-US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49" y="7759"/>
              <a:ext cx="2217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Office办公软件</a:t>
              </a:r>
              <a:endParaRPr lang="zh-CN" sz="1000" b="1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Excel（VLOOKUP、数据透视表）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49" y="6763"/>
              <a:ext cx="2217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服装CAD</a:t>
              </a:r>
              <a:endParaRPr lang="en-US" altLang="zh-CN" sz="9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algn="l">
                <a:buClrTx/>
                <a:buSzTx/>
                <a:buNone/>
              </a:pPr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ET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algn="l">
                <a:buClrTx/>
                <a:buSzTx/>
                <a:buNone/>
              </a:pPr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博克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algn="l">
                <a:buClrTx/>
                <a:buSzTx/>
                <a:buNone/>
              </a:pPr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至尊宝纺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49" y="4964"/>
              <a:ext cx="2217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服装建模</a:t>
              </a:r>
              <a:endParaRPr lang="zh-CN" altLang="en-US" sz="900" b="1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Style 3D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Clo 3D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9" y="5767"/>
              <a:ext cx="2217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sz="1000" b="1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平面设计</a:t>
              </a:r>
              <a:endParaRPr lang="en-US" altLang="zh-CN" sz="9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Cdr</a:t>
              </a:r>
              <a:endParaRPr lang="zh-CN" altLang="en-US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Ai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  <a:p>
              <a:pPr marL="172720" indent="0" fontAlgn="auto"/>
              <a:r>
                <a:rPr lang="en-US" altLang="zh-CN" sz="80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Ps</a:t>
              </a:r>
              <a:endParaRPr lang="en-US" altLang="zh-CN" sz="80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</p:grpSp>
      <p:cxnSp>
        <p:nvCxnSpPr>
          <p:cNvPr id="68" name="直接连接符 29"/>
          <p:cNvCxnSpPr/>
          <p:nvPr/>
        </p:nvCxnSpPr>
        <p:spPr>
          <a:xfrm>
            <a:off x="2205345" y="5478145"/>
            <a:ext cx="40309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2205345" y="8335645"/>
            <a:ext cx="4100830" cy="1288415"/>
            <a:chOff x="2762173" y="4685399"/>
            <a:chExt cx="4100830" cy="1289672"/>
          </a:xfrm>
        </p:grpSpPr>
        <p:sp>
          <p:nvSpPr>
            <p:cNvPr id="73" name="文本框 72"/>
            <p:cNvSpPr txBox="1"/>
            <p:nvPr/>
          </p:nvSpPr>
          <p:spPr>
            <a:xfrm>
              <a:off x="2951403" y="4685399"/>
              <a:ext cx="3884295" cy="230656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浙江飘蕾服饰有限公司</a:t>
              </a:r>
              <a:r>
                <a:rPr lang="en-US" altLang="zh-CN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 | </a:t>
              </a: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跟单助理</a:t>
              </a:r>
              <a:r>
                <a:rPr lang="en-US" altLang="zh-CN" sz="100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·</a:t>
              </a:r>
              <a:r>
                <a:rPr lang="en-US" altLang="zh-CN" sz="1000" i="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2021.06-2021.08</a:t>
              </a:r>
              <a:endParaRPr lang="en-US" altLang="zh-CN" sz="1000" i="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762173" y="4979375"/>
              <a:ext cx="4100830" cy="995696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流程协调：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对接设计、制版、样衣及合作工厂，保障样衣制作高效衔接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样衣管理：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统筹样衣生产安排与进度跟进，确保节点按时完成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物料管理：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负责面辅料分配、入库及使用管理，控制物料损耗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b="1" i="0" dirty="0">
                  <a:solidFill>
                    <a:schemeClr val="tx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成果提升：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样衣周期缩短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≈15%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，物料损耗降低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10.31%</a:t>
              </a:r>
              <a:r>
                <a:rPr lang="zh-CN" altLang="en-US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，一次通过率提升至</a:t>
              </a:r>
              <a:r>
                <a:rPr lang="en-US" altLang="zh-CN" sz="8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 88.72%</a:t>
              </a:r>
              <a:endParaRPr lang="en-US" altLang="zh-CN" sz="8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</p:txBody>
        </p:sp>
      </p:grpSp>
      <p:cxnSp>
        <p:nvCxnSpPr>
          <p:cNvPr id="75" name="直接连接符 29"/>
          <p:cNvCxnSpPr/>
          <p:nvPr/>
        </p:nvCxnSpPr>
        <p:spPr>
          <a:xfrm>
            <a:off x="2205345" y="8262620"/>
            <a:ext cx="40309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420610" y="483930"/>
            <a:ext cx="3888000" cy="371847"/>
            <a:chOff x="2565000" y="2203565"/>
            <a:chExt cx="3888000" cy="371847"/>
          </a:xfrm>
        </p:grpSpPr>
        <p:sp>
          <p:nvSpPr>
            <p:cNvPr id="12" name="文本框 11"/>
            <p:cNvSpPr txBox="1"/>
            <p:nvPr/>
          </p:nvSpPr>
          <p:spPr>
            <a:xfrm>
              <a:off x="2565000" y="2203565"/>
              <a:ext cx="711200" cy="21526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buClrTx/>
                <a:buSzTx/>
                <a:buFontTx/>
                <a:defRPr sz="1400" i="0" cap="all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校园经历</a:t>
              </a:r>
              <a:endPara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2565000" y="2575412"/>
              <a:ext cx="3888000" cy="0"/>
              <a:chOff x="2565000" y="2575412"/>
              <a:chExt cx="3888000" cy="0"/>
            </a:xfrm>
          </p:grpSpPr>
          <p:cxnSp>
            <p:nvCxnSpPr>
              <p:cNvPr id="13" name="直接连接符 29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2565000" y="2575412"/>
                <a:ext cx="388800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29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2565000" y="2575412"/>
                <a:ext cx="720000" cy="0"/>
              </a:xfrm>
              <a:prstGeom prst="line">
                <a:avLst/>
              </a:prstGeom>
              <a:ln w="31750">
                <a:solidFill>
                  <a:srgbClr val="B1A78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2420610" y="1058050"/>
            <a:ext cx="3888000" cy="1025834"/>
            <a:chOff x="2974898" y="4619330"/>
            <a:chExt cx="3888000" cy="1025834"/>
          </a:xfrm>
        </p:grpSpPr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2974898" y="4619330"/>
              <a:ext cx="3580915" cy="230505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欣灵设计 | 部长</a:t>
              </a: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  <a:sym typeface="+mn-ea"/>
                </a:rPr>
                <a:t>·</a:t>
              </a:r>
              <a:r>
                <a:rPr lang="en-US" altLang="zh-CN" sz="1000" i="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2020.09-2022.09</a:t>
              </a:r>
              <a:endParaRPr lang="en-US" altLang="zh-CN" sz="1000" i="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2974898" y="4899039"/>
              <a:ext cx="3888000" cy="746125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担任部长期间，领导团队高效完成逾</a:t>
              </a:r>
              <a:r>
                <a:rPr lang="en-US" altLang="zh-CN" sz="9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10</a:t>
              </a:r>
              <a:r>
                <a:rPr lang="zh-CN" altLang="en-US" sz="9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场传统手工艺活动，并带领部门积极从事传统发绣的宣传工作，使更多师生了解并尝试发绣，受到学院内师生的一致好评。</a:t>
              </a:r>
              <a:endParaRPr lang="zh-CN" altLang="en-US" sz="9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4824" y="486777"/>
            <a:ext cx="1413056" cy="371847"/>
            <a:chOff x="2565000" y="2203565"/>
            <a:chExt cx="1413056" cy="371847"/>
          </a:xfrm>
        </p:grpSpPr>
        <p:sp>
          <p:nvSpPr>
            <p:cNvPr id="67" name="文本框 66"/>
            <p:cNvSpPr txBox="1"/>
            <p:nvPr/>
          </p:nvSpPr>
          <p:spPr>
            <a:xfrm>
              <a:off x="2565000" y="2203565"/>
              <a:ext cx="711200" cy="21526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buClrTx/>
                <a:buSzTx/>
                <a:buFontTx/>
                <a:defRPr sz="1400" i="0" cap="all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自我评价</a:t>
              </a:r>
              <a:endPara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565000" y="2575412"/>
              <a:ext cx="1413056" cy="0"/>
              <a:chOff x="2565000" y="2575412"/>
              <a:chExt cx="1413056" cy="0"/>
            </a:xfrm>
          </p:grpSpPr>
          <p:cxnSp>
            <p:nvCxnSpPr>
              <p:cNvPr id="71" name="直接连接符 29"/>
              <p:cNvCxnSpPr/>
              <p:nvPr/>
            </p:nvCxnSpPr>
            <p:spPr>
              <a:xfrm>
                <a:off x="2565000" y="2575412"/>
                <a:ext cx="1413056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29"/>
              <p:cNvCxnSpPr/>
              <p:nvPr/>
            </p:nvCxnSpPr>
            <p:spPr>
              <a:xfrm>
                <a:off x="2565000" y="2575412"/>
                <a:ext cx="720000" cy="0"/>
              </a:xfrm>
              <a:prstGeom prst="line">
                <a:avLst/>
              </a:prstGeom>
              <a:ln w="31750">
                <a:solidFill>
                  <a:srgbClr val="B1A78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文本框 85"/>
          <p:cNvSpPr txBox="1"/>
          <p:nvPr/>
        </p:nvSpPr>
        <p:spPr>
          <a:xfrm>
            <a:off x="404824" y="990704"/>
            <a:ext cx="1429200" cy="199009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just">
              <a:lnSpc>
                <a:spcPct val="180000"/>
              </a:lnSpc>
              <a:buClrTx/>
              <a:buSzTx/>
              <a:tabLst>
                <a:tab pos="3760470" algn="l"/>
              </a:tabLst>
            </a:pPr>
            <a:r>
              <a:rPr lang="zh-CN" altLang="en-US" sz="90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</a:rPr>
              <a:t>服装工程背景，具备商品企划实习经验，熟悉商品结构、库存管理与竞品分析，能够结合数据与用户反馈推动商品优化。理解从设计到销售的完整链路，逻辑清晰、执行力强，具备良好的跨部门协同能力。</a:t>
            </a:r>
            <a:endParaRPr lang="zh-CN" altLang="en-US" sz="900" dirty="0">
              <a:solidFill>
                <a:schemeClr val="tx1"/>
              </a:solidFill>
              <a:latin typeface="思源黑体 Light" panose="020B0300000000000000" charset="-122"/>
              <a:ea typeface="思源黑体 Light" panose="020B03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4824" y="3112239"/>
            <a:ext cx="1413056" cy="371475"/>
            <a:chOff x="2565000" y="2203565"/>
            <a:chExt cx="1413056" cy="371847"/>
          </a:xfrm>
        </p:grpSpPr>
        <p:sp>
          <p:nvSpPr>
            <p:cNvPr id="47" name="文本框 46"/>
            <p:cNvSpPr txBox="1"/>
            <p:nvPr/>
          </p:nvSpPr>
          <p:spPr>
            <a:xfrm>
              <a:off x="2565000" y="2203565"/>
              <a:ext cx="711200" cy="21548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buClrTx/>
                <a:buSzTx/>
                <a:buFontTx/>
                <a:defRPr sz="1400" i="0" cap="all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个人爱好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2565000" y="2575412"/>
              <a:ext cx="1413056" cy="0"/>
              <a:chOff x="2565000" y="2575412"/>
              <a:chExt cx="1413056" cy="0"/>
            </a:xfrm>
          </p:grpSpPr>
          <p:cxnSp>
            <p:nvCxnSpPr>
              <p:cNvPr id="52" name="直接连接符 29"/>
              <p:cNvCxnSpPr/>
              <p:nvPr/>
            </p:nvCxnSpPr>
            <p:spPr>
              <a:xfrm>
                <a:off x="2565000" y="2575412"/>
                <a:ext cx="1413056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29"/>
              <p:cNvCxnSpPr/>
              <p:nvPr/>
            </p:nvCxnSpPr>
            <p:spPr>
              <a:xfrm>
                <a:off x="2565000" y="2575412"/>
                <a:ext cx="720000" cy="0"/>
              </a:xfrm>
              <a:prstGeom prst="line">
                <a:avLst/>
              </a:prstGeom>
              <a:ln w="31750">
                <a:solidFill>
                  <a:srgbClr val="B1A78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文本框 53"/>
          <p:cNvSpPr txBox="1"/>
          <p:nvPr/>
        </p:nvSpPr>
        <p:spPr>
          <a:xfrm>
            <a:off x="409904" y="3639924"/>
            <a:ext cx="1423503" cy="99504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just">
              <a:lnSpc>
                <a:spcPct val="180000"/>
              </a:lnSpc>
              <a:buClrTx/>
              <a:buSzTx/>
              <a:tabLst>
                <a:tab pos="3760470" algn="l"/>
              </a:tabLst>
            </a:pPr>
            <a:r>
              <a:rPr lang="zh-CN" altLang="en-US" sz="90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</a:rPr>
              <a:t>瑜伽</a:t>
            </a:r>
            <a:endParaRPr lang="zh-CN" altLang="en-US" sz="900" dirty="0">
              <a:solidFill>
                <a:schemeClr val="tx1"/>
              </a:solidFill>
              <a:latin typeface="思源黑体 Light" panose="020B0300000000000000" charset="-122"/>
              <a:ea typeface="思源黑体 Light" panose="020B0300000000000000" charset="-122"/>
            </a:endParaRPr>
          </a:p>
          <a:p>
            <a:pPr lvl="0" algn="just">
              <a:lnSpc>
                <a:spcPct val="180000"/>
              </a:lnSpc>
              <a:buClrTx/>
              <a:buSzTx/>
              <a:tabLst>
                <a:tab pos="3760470" algn="l"/>
              </a:tabLst>
            </a:pPr>
            <a:r>
              <a:rPr lang="zh-CN" altLang="en-US" sz="90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</a:rPr>
              <a:t>手作服装制作</a:t>
            </a:r>
            <a:endParaRPr lang="zh-CN" altLang="en-US" sz="900" dirty="0">
              <a:solidFill>
                <a:schemeClr val="tx1"/>
              </a:solidFill>
              <a:latin typeface="思源黑体 Light" panose="020B0300000000000000" charset="-122"/>
              <a:ea typeface="思源黑体 Light" panose="020B0300000000000000" charset="-122"/>
            </a:endParaRPr>
          </a:p>
          <a:p>
            <a:pPr lvl="0" algn="just">
              <a:lnSpc>
                <a:spcPct val="180000"/>
              </a:lnSpc>
              <a:buClrTx/>
              <a:buSzTx/>
              <a:tabLst>
                <a:tab pos="3760470" algn="l"/>
              </a:tabLst>
            </a:pPr>
            <a:r>
              <a:rPr lang="zh-CN" altLang="en-US" sz="90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</a:rPr>
              <a:t>服装结构与细节意识</a:t>
            </a:r>
            <a:endParaRPr lang="zh-CN" altLang="en-US" sz="900" dirty="0">
              <a:solidFill>
                <a:schemeClr val="tx1"/>
              </a:solidFill>
              <a:latin typeface="思源黑体 Light" panose="020B0300000000000000" charset="-122"/>
              <a:ea typeface="思源黑体 Light" panose="020B0300000000000000" charset="-122"/>
            </a:endParaRPr>
          </a:p>
          <a:p>
            <a:pPr lvl="0" algn="just">
              <a:lnSpc>
                <a:spcPct val="180000"/>
              </a:lnSpc>
              <a:buClrTx/>
              <a:buSzTx/>
              <a:tabLst>
                <a:tab pos="3760470" algn="l"/>
              </a:tabLst>
            </a:pPr>
            <a:r>
              <a:rPr lang="zh-CN" altLang="en-US" sz="900" dirty="0">
                <a:solidFill>
                  <a:schemeClr val="tx1"/>
                </a:solidFill>
                <a:latin typeface="思源黑体 Light" panose="020B0300000000000000" charset="-122"/>
                <a:ea typeface="思源黑体 Light" panose="020B0300000000000000" charset="-122"/>
              </a:rPr>
              <a:t>服装史与影视服装研究</a:t>
            </a:r>
            <a:endParaRPr lang="zh-CN" altLang="en-US" sz="900" dirty="0">
              <a:solidFill>
                <a:schemeClr val="tx1"/>
              </a:solidFill>
              <a:latin typeface="思源黑体 Light" panose="020B0300000000000000" charset="-122"/>
              <a:ea typeface="思源黑体 Light" panose="020B03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420610" y="2315024"/>
            <a:ext cx="3888000" cy="1025525"/>
            <a:chOff x="2974898" y="4619330"/>
            <a:chExt cx="3888000" cy="1025834"/>
          </a:xfrm>
        </p:grpSpPr>
        <p:sp>
          <p:nvSpPr>
            <p:cNvPr id="4" name="文本框 3"/>
            <p:cNvSpPr txBox="1"/>
            <p:nvPr>
              <p:custDataLst>
                <p:tags r:id="rId8"/>
              </p:custDataLst>
            </p:nvPr>
          </p:nvSpPr>
          <p:spPr>
            <a:xfrm>
              <a:off x="2974898" y="4619330"/>
              <a:ext cx="3580915" cy="230574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zh-CN" altLang="en-US" sz="1000" b="1" i="0" dirty="0">
                  <a:solidFill>
                    <a:srgbClr val="B1A78F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心理委员</a:t>
              </a: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  <a:sym typeface="+mn-ea"/>
                </a:rPr>
                <a:t>·</a:t>
              </a:r>
              <a:r>
                <a:rPr lang="en-US" altLang="zh-CN" sz="1000" i="0" dirty="0">
                  <a:solidFill>
                    <a:schemeClr val="tx1"/>
                  </a:solidFill>
                  <a:latin typeface="Source Han Sans SC Regular" panose="020B0600000000000000" charset="-122"/>
                  <a:ea typeface="Source Han Sans SC Regular" panose="020B0600000000000000" charset="-122"/>
                  <a:cs typeface="Source Han Sans SC Regular" panose="020B0600000000000000" charset="-122"/>
                </a:rPr>
                <a:t>2020.09-2023.06</a:t>
              </a:r>
              <a:endParaRPr lang="en-US" altLang="zh-CN" sz="1000" i="0" dirty="0">
                <a:solidFill>
                  <a:schemeClr val="tx1"/>
                </a:solidFill>
                <a:latin typeface="Source Han Sans SC Regular" panose="020B0600000000000000" charset="-122"/>
                <a:ea typeface="Source Han Sans SC Regular" panose="020B0600000000000000" charset="-122"/>
                <a:cs typeface="Source Han Sans SC Regular" panose="020B0600000000000000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9"/>
              </p:custDataLst>
            </p:nvPr>
          </p:nvSpPr>
          <p:spPr>
            <a:xfrm>
              <a:off x="2974898" y="4899039"/>
              <a:ext cx="3888000" cy="746125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171450" lvl="0" indent="-171450" algn="just" defTabSz="914400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tabLst>
                  <a:tab pos="3760470" algn="l"/>
                </a:tabLst>
              </a:pPr>
              <a:r>
                <a:rPr lang="zh-CN" altLang="en-US" sz="90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Light" panose="020B0300000000000000" charset="-122"/>
                </a:rPr>
                <a:t>负责心理关怀与心理健康的活动组织，乐于倾听，具备高度的责任感与同理心。作为同学与老师的沟通桥梁，观察敏锐，处事沉稳。强化了责任感与共情力，具有极高的团队精神。</a:t>
              </a:r>
              <a:endParaRPr lang="zh-CN" altLang="en-US" sz="9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endParaRPr>
            </a:p>
          </p:txBody>
        </p:sp>
      </p:grpSp>
      <p:cxnSp>
        <p:nvCxnSpPr>
          <p:cNvPr id="7" name="直接连接符 29"/>
          <p:cNvCxnSpPr/>
          <p:nvPr>
            <p:custDataLst>
              <p:tags r:id="rId10"/>
            </p:custDataLst>
          </p:nvPr>
        </p:nvCxnSpPr>
        <p:spPr>
          <a:xfrm>
            <a:off x="2420610" y="2199454"/>
            <a:ext cx="38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65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66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67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68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69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70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71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72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73.xml><?xml version="1.0" encoding="utf-8"?>
<p:tagLst xmlns:p="http://schemas.openxmlformats.org/presentationml/2006/main">
  <p:tag name="KSO_WM_DIAGRAM_VIRTUALLY_FRAME" val="{&quot;height&quot;:224.93062992125982,&quot;left&quot;:190.5992125984252,&quot;top&quot;:38.10472440944882,&quot;width&quot;:306.14173228346453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WPS 演示</Application>
  <PresentationFormat>自定义</PresentationFormat>
  <Paragraphs>106</Paragraphs>
  <Slides>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Times New Roman</vt:lpstr>
      <vt:lpstr>思源黑体 Medium</vt:lpstr>
      <vt:lpstr>思源黑体 Light</vt:lpstr>
      <vt:lpstr>Didot Bold</vt:lpstr>
      <vt:lpstr>NumberOnly</vt:lpstr>
      <vt:lpstr>Source Han Sans SC Regular</vt:lpstr>
      <vt:lpstr>思源黑体 Light</vt:lpstr>
      <vt:lpstr>苹方-简</vt:lpstr>
      <vt:lpstr>Segoe Print</vt:lpstr>
      <vt:lpstr>微软雅黑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random</cp:lastModifiedBy>
  <cp:revision>230</cp:revision>
  <dcterms:created xsi:type="dcterms:W3CDTF">2025-08-17T12:48:00Z</dcterms:created>
  <dcterms:modified xsi:type="dcterms:W3CDTF">2026-01-29T10:46:50Z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EB15AD1B6F6A4BAAA6352F285B0796EF_13</vt:lpwstr>
  </property>
</Properties>
</file>